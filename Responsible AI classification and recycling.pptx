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700" b="0" i="0" u="none" strike="noStrike">
                <a:solidFill>
                  <a:srgbClr val="1B3562"/>
                </a:solidFill>
                <a:latin typeface="Arial"/>
              </a:defRPr>
            </a:pPr>
            <a:r>
              <a:rPr sz="700" b="0" i="0" u="none" strike="noStrike">
                <a:solidFill>
                  <a:srgbClr val="1B3562"/>
                </a:solidFill>
                <a:latin typeface="Arial"/>
              </a:rPr>
              <a:t>Responsible AI Risk Dimensions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245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458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45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458A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Fairness</c:v>
                  </c:pt>
                  <c:pt idx="1">
                    <c:v>Performance</c:v>
                  </c:pt>
                  <c:pt idx="2">
                    <c:v>Explainability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50</c:v>
                </c:pt>
                <c:pt idx="2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381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700" b="0" i="0" u="none" strike="noStrike">
                <a:solidFill>
                  <a:srgbClr val="1B3562"/>
                </a:solidFill>
                <a:latin typeface="Arial"/>
              </a:defRPr>
            </a:pPr>
            <a:r>
              <a:rPr sz="700" b="0" i="0" u="none" strike="noStrike">
                <a:solidFill>
                  <a:srgbClr val="1B3562"/>
                </a:solidFill>
                <a:latin typeface="Arial"/>
              </a:rPr>
              <a:t>Composite Risk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Score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47A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5E2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Fairness</c:v>
                  </c:pt>
                  <c:pt idx="1">
                    <c:v>Performance</c:v>
                  </c:pt>
                  <c:pt idx="2">
                    <c:v>Explainability</c:v>
                  </c:pt>
                  <c:pt idx="3">
                    <c:v>Overall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78</c:v>
                </c:pt>
                <c:pt idx="2">
                  <c:v>85</c:v>
                </c:pt>
                <c:pt idx="3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381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700" b="0" i="0" u="none" strike="noStrike">
                <a:solidFill>
                  <a:srgbClr val="1B3562"/>
                </a:solidFill>
                <a:latin typeface="Arial"/>
              </a:defRPr>
            </a:pPr>
            <a:r>
              <a:rPr sz="700" b="0" i="0" u="none" strike="noStrike">
                <a:solidFill>
                  <a:srgbClr val="1B3562"/>
                </a:solidFill>
                <a:latin typeface="Arial"/>
              </a:rPr>
              <a:t>Explainability Analysis (SHAP Importance)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Value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Texture</c:v>
                  </c:pt>
                  <c:pt idx="1">
                    <c:v>Shape</c:v>
                  </c:pt>
                  <c:pt idx="2">
                    <c:v>Colour</c:v>
                  </c:pt>
                  <c:pt idx="3">
                    <c:v>Context</c:v>
                  </c:pt>
                  <c:pt idx="4">
                    <c:v>Edge</c:v>
                  </c:pt>
                  <c:pt idx="5">
                    <c:v>Size</c:v>
                  </c:pt>
                  <c:pt idx="6">
                    <c:v>Reflect.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14</c:v>
                </c:pt>
                <c:pt idx="2">
                  <c:v>12</c:v>
                </c:pt>
                <c:pt idx="3">
                  <c:v>10</c:v>
                </c:pt>
                <c:pt idx="4">
                  <c:v>9</c:v>
                </c:pt>
                <c:pt idx="5">
                  <c:v>8</c:v>
                </c:pt>
                <c:pt idx="6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381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700" b="0" i="0" u="none" strike="noStrike">
                <a:solidFill>
                  <a:srgbClr val="1B3562"/>
                </a:solidFill>
                <a:latin typeface="Arial"/>
              </a:defRPr>
            </a:pPr>
            <a:r>
              <a:rPr sz="700" b="0" i="0" u="none" strike="noStrike">
                <a:solidFill>
                  <a:srgbClr val="1B3562"/>
                </a:solidFill>
                <a:latin typeface="Arial"/>
              </a:rPr>
              <a:t>Governance Risk Monitoring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20</c:v>
                </c:pt>
                <c:pt idx="2">
                  <c:v>17</c:v>
                </c:pt>
                <c:pt idx="3">
                  <c:v>15</c:v>
                </c:pt>
                <c:pt idx="4">
                  <c:v>13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700" b="0" i="0" u="none" strike="noStrike">
                <a:solidFill>
                  <a:srgbClr val="1B3562"/>
                </a:solidFill>
                <a:latin typeface="Arial"/>
              </a:defRPr>
            </a:pPr>
            <a:r>
              <a:rPr sz="700" b="0" i="0" u="none" strike="noStrike">
                <a:solidFill>
                  <a:srgbClr val="1B3562"/>
                </a:solidFill>
                <a:latin typeface="Arial"/>
              </a:rPr>
              <a:t>Fairness Risk Detection (Accuracy % by Region)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Rebalancing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Europe</c:v>
                  </c:pt>
                  <c:pt idx="1">
                    <c:v>SE Asia</c:v>
                  </c:pt>
                  <c:pt idx="2">
                    <c:v>Sub-Saharan Africa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91.2</c:v>
                </c:pt>
                <c:pt idx="1">
                  <c:v>78.4</c:v>
                </c:pt>
                <c:pt idx="2">
                  <c:v>74.1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Rebalancing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Europe</c:v>
                  </c:pt>
                  <c:pt idx="1">
                    <c:v>SE Asia</c:v>
                  </c:pt>
                  <c:pt idx="2">
                    <c:v>Sub-Saharan Africa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91.2</c:v>
                </c:pt>
                <c:pt idx="1">
                  <c:v>88</c:v>
                </c:pt>
                <c:pt idx="2">
                  <c:v>85.7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381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700" b="0" i="0" u="none" strike="noStrike">
                <a:solidFill>
                  <a:srgbClr val="1B3562"/>
                </a:solidFill>
                <a:latin typeface="Arial"/>
              </a:defRPr>
            </a:pPr>
            <a:r>
              <a:rPr sz="700" b="0" i="0" u="none" strike="noStrike">
                <a:solidFill>
                  <a:srgbClr val="1B3562"/>
                </a:solidFill>
                <a:latin typeface="Arial"/>
              </a:rPr>
              <a:t>Edge Deployment: Inference Speed (FPS)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ResNet-50
GPU</c:v>
                  </c:pt>
                  <c:pt idx="1">
                    <c:v>MobileV3
FP32</c:v>
                  </c:pt>
                  <c:pt idx="2">
                    <c:v>MobileV3
INT8</c:v>
                  </c:pt>
                  <c:pt idx="3">
                    <c:v>MobileV3
FP16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12.1</c:v>
                </c:pt>
                <c:pt idx="2">
                  <c:v>16.8</c:v>
                </c:pt>
                <c:pt idx="3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9" Type="http://schemas.openxmlformats.org/officeDocument/2006/relationships/chart" Target="/ppt/charts/chart2.xml"/><Relationship Id="rId11" Type="http://schemas.openxmlformats.org/officeDocument/2006/relationships/chart" Target="/ppt/charts/chart3.xml"/><Relationship Id="rId13" Type="http://schemas.openxmlformats.org/officeDocument/2006/relationships/chart" Target="/ppt/charts/chart4.xml"/><Relationship Id="rId15" Type="http://schemas.openxmlformats.org/officeDocument/2006/relationships/chart" Target="/ppt/charts/chart5.xml"/><Relationship Id="rId16" Type="http://schemas.openxmlformats.org/officeDocument/2006/relationships/chart" Target="/ppt/charts/chart6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8" Type="http://schemas.openxmlformats.org/officeDocument/2006/relationships/image" Target="../media/image-1-7.png"/><Relationship Id="rId10" Type="http://schemas.openxmlformats.org/officeDocument/2006/relationships/image" Target="../media/image-1-8.png"/><Relationship Id="rId12" Type="http://schemas.openxmlformats.org/officeDocument/2006/relationships/image" Target="../media/image-1-9.png"/><Relationship Id="rId14" Type="http://schemas.openxmlformats.org/officeDocument/2006/relationships/image" Target="../media/image-1-10.png"/><Relationship Id="rId17" Type="http://schemas.openxmlformats.org/officeDocument/2006/relationships/image" Target="../media/image-1-11.png"/><Relationship Id="rId18" Type="http://schemas.openxmlformats.org/officeDocument/2006/relationships/image" Target="../media/image-1-12.png"/><Relationship Id="rId19" Type="http://schemas.openxmlformats.org/officeDocument/2006/relationships/image" Target="../media/image-1-13.png"/><Relationship Id="rId20" Type="http://schemas.openxmlformats.org/officeDocument/2006/relationships/image" Target="../media/image-1-14.png"/><Relationship Id="rId21" Type="http://schemas.openxmlformats.org/officeDocument/2006/relationships/image" Target="../media/image-1-15.png"/><Relationship Id="rId22" Type="http://schemas.openxmlformats.org/officeDocument/2006/relationships/image" Target="../media/image-1-16.png"/><Relationship Id="rId23" Type="http://schemas.openxmlformats.org/officeDocument/2006/relationships/image" Target="../media/image-1-17.png"/><Relationship Id="rId24" Type="http://schemas.openxmlformats.org/officeDocument/2006/relationships/image" Target="../media/image-1-18.png"/><Relationship Id="rId25" Type="http://schemas.openxmlformats.org/officeDocument/2006/relationships/image" Target="../media/image-1-19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03504"/>
          </a:xfrm>
          <a:prstGeom prst="rect">
            <a:avLst/>
          </a:prstGeom>
          <a:solidFill>
            <a:srgbClr val="5C6B2E"/>
          </a:solidFill>
          <a:ln w="3810">
            <a:solidFill>
              <a:srgbClr val="5C6B2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7160" y="9144"/>
            <a:ext cx="1188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FOR WASTE CLASSIFICATION &amp; RECYCLING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37160" y="347472"/>
            <a:ext cx="1188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D8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RISKS · DECISION SUPPORT · MONITORING · GOVERNANCE THROUGH RESPONSIBLE AI  |  ResNet-50 · Grad-CAM · SHAP · CodeCarbon · MobileNetV3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64008" y="640080"/>
            <a:ext cx="2359152" cy="274320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" y="640080"/>
            <a:ext cx="2359152" cy="274320"/>
          </a:xfrm>
          <a:prstGeom prst="rect">
            <a:avLst/>
          </a:prstGeom>
          <a:solidFill>
            <a:srgbClr val="1B3562"/>
          </a:solidFill>
          <a:ln w="3810">
            <a:solidFill>
              <a:srgbClr val="1B35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" y="6400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1.MOTIVATION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37160" y="95097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responsible AI risk monitoring?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37160" y="114300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waste-sorting systems introduce unintended risks — bias in material classification, performance degradation in real-world conditions, and lack of transparency in CNN decisions. Continuous identification, quantification, and mitigation ensures fairness, reliability, and accountability.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155448" y="1810512"/>
            <a:ext cx="82296" cy="82296"/>
          </a:xfrm>
          <a:prstGeom prst="ellipse">
            <a:avLst/>
          </a:prstGeom>
          <a:solidFill>
            <a:srgbClr val="2458A6"/>
          </a:solidFill>
          <a:ln w="12700">
            <a:solidFill>
              <a:srgbClr val="245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" y="177393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fairness in waste predictions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155448" y="2048256"/>
            <a:ext cx="82296" cy="82296"/>
          </a:xfrm>
          <a:prstGeom prst="ellipse">
            <a:avLst/>
          </a:prstGeom>
          <a:solidFill>
            <a:srgbClr val="2458A6"/>
          </a:solidFill>
          <a:ln w="12700">
            <a:solidFill>
              <a:srgbClr val="245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" y="201168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degradation on real images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155448" y="2286000"/>
            <a:ext cx="82296" cy="82296"/>
          </a:xfrm>
          <a:prstGeom prst="ellipse">
            <a:avLst/>
          </a:prstGeom>
          <a:solidFill>
            <a:srgbClr val="2458A6"/>
          </a:solidFill>
          <a:ln w="12700">
            <a:solidFill>
              <a:srgbClr val="245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" y="224942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gaps in CNN decisions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155448" y="2523744"/>
            <a:ext cx="82296" cy="82296"/>
          </a:xfrm>
          <a:prstGeom prst="ellipse">
            <a:avLst/>
          </a:prstGeom>
          <a:solidFill>
            <a:srgbClr val="2458A6"/>
          </a:solidFill>
          <a:ln w="12700">
            <a:solidFill>
              <a:srgbClr val="245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" y="248716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compliance and accountability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137160" y="2816352"/>
            <a:ext cx="2231136" cy="475488"/>
          </a:xfrm>
          <a:prstGeom prst="roundRect">
            <a:avLst>
              <a:gd name="adj" fmla="val 9615"/>
            </a:avLst>
          </a:prstGeom>
          <a:solidFill>
            <a:srgbClr val="D6E4F5"/>
          </a:solidFill>
          <a:ln w="6350">
            <a:solidFill>
              <a:srgbClr val="2458A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" y="28712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29768" y="283464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dashboard that measures key AI risks, supports stakeholder decision-making, and enables effective governance and mitigation.</a:t>
            </a:r>
            <a:endParaRPr lang="en-US" sz="660" dirty="0"/>
          </a:p>
        </p:txBody>
      </p:sp>
      <p:sp>
        <p:nvSpPr>
          <p:cNvPr id="21" name="Shape 18"/>
          <p:cNvSpPr/>
          <p:nvPr/>
        </p:nvSpPr>
        <p:spPr>
          <a:xfrm>
            <a:off x="2482596" y="640080"/>
            <a:ext cx="2359152" cy="274320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482596" y="640080"/>
            <a:ext cx="2359152" cy="274320"/>
          </a:xfrm>
          <a:prstGeom prst="rect">
            <a:avLst/>
          </a:prstGeom>
          <a:solidFill>
            <a:srgbClr val="1B3562"/>
          </a:solidFill>
          <a:ln w="3810">
            <a:solidFill>
              <a:srgbClr val="1B35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546604" y="6400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2.DATA INPUTS &amp; TOOLS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2555748" y="94183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inputs/metrics</a:t>
            </a:r>
            <a:endParaRPr lang="en-US" sz="76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036" y="1152144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811780" y="115214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metrics (bias, parity, disparity)</a:t>
            </a:r>
            <a:endParaRPr lang="en-US" sz="69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036" y="1426464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811780" y="142646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risk indicators (accuracy, F1)</a:t>
            </a:r>
            <a:endParaRPr lang="en-US" sz="69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036" y="1700784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811780" y="17007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scores (Grad-CAM, SHAP)</a:t>
            </a:r>
            <a:endParaRPr lang="en-US" sz="69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4036" y="1975104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811780" y="197510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indicators (policies, alerts)</a:t>
            </a:r>
            <a:endParaRPr lang="en-US" sz="69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4036" y="2249424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811780" y="224942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metrics (drift, stability, FPS)</a:t>
            </a:r>
            <a:endParaRPr lang="en-US" sz="690" dirty="0"/>
          </a:p>
        </p:txBody>
      </p:sp>
      <p:sp>
        <p:nvSpPr>
          <p:cNvPr id="35" name="Text 27"/>
          <p:cNvSpPr/>
          <p:nvPr/>
        </p:nvSpPr>
        <p:spPr>
          <a:xfrm>
            <a:off x="2555748" y="257860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720" dirty="0"/>
          </a:p>
        </p:txBody>
      </p:sp>
      <p:sp>
        <p:nvSpPr>
          <p:cNvPr id="36" name="Shape 28"/>
          <p:cNvSpPr/>
          <p:nvPr/>
        </p:nvSpPr>
        <p:spPr>
          <a:xfrm>
            <a:off x="2555748" y="2761488"/>
            <a:ext cx="1051560" cy="146304"/>
          </a:xfrm>
          <a:prstGeom prst="roundRect">
            <a:avLst>
              <a:gd name="adj" fmla="val 18750"/>
            </a:avLst>
          </a:prstGeom>
          <a:solidFill>
            <a:srgbClr val="D6E4F5"/>
          </a:solidFill>
          <a:ln w="3810">
            <a:solidFill>
              <a:srgbClr val="2458A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2592324" y="276148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PyTorch</a:t>
            </a:r>
            <a:endParaRPr lang="en-US" sz="600" dirty="0"/>
          </a:p>
        </p:txBody>
      </p:sp>
      <p:sp>
        <p:nvSpPr>
          <p:cNvPr id="38" name="Shape 30"/>
          <p:cNvSpPr/>
          <p:nvPr/>
        </p:nvSpPr>
        <p:spPr>
          <a:xfrm>
            <a:off x="3680460" y="2761488"/>
            <a:ext cx="1051560" cy="146304"/>
          </a:xfrm>
          <a:prstGeom prst="roundRect">
            <a:avLst>
              <a:gd name="adj" fmla="val 18750"/>
            </a:avLst>
          </a:prstGeom>
          <a:solidFill>
            <a:srgbClr val="D6E4F5"/>
          </a:solidFill>
          <a:ln w="3810">
            <a:solidFill>
              <a:srgbClr val="2458A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3717036" y="276148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600" dirty="0"/>
          </a:p>
        </p:txBody>
      </p:sp>
      <p:sp>
        <p:nvSpPr>
          <p:cNvPr id="40" name="Shape 32"/>
          <p:cNvSpPr/>
          <p:nvPr/>
        </p:nvSpPr>
        <p:spPr>
          <a:xfrm>
            <a:off x="2555748" y="2944368"/>
            <a:ext cx="1051560" cy="146304"/>
          </a:xfrm>
          <a:prstGeom prst="roundRect">
            <a:avLst>
              <a:gd name="adj" fmla="val 18750"/>
            </a:avLst>
          </a:prstGeom>
          <a:solidFill>
            <a:srgbClr val="D6E4F5"/>
          </a:solidFill>
          <a:ln w="3810">
            <a:solidFill>
              <a:srgbClr val="2458A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2592324" y="294436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Matplotlib</a:t>
            </a:r>
            <a:endParaRPr lang="en-US" sz="600" dirty="0"/>
          </a:p>
        </p:txBody>
      </p:sp>
      <p:sp>
        <p:nvSpPr>
          <p:cNvPr id="42" name="Shape 34"/>
          <p:cNvSpPr/>
          <p:nvPr/>
        </p:nvSpPr>
        <p:spPr>
          <a:xfrm>
            <a:off x="3680460" y="2944368"/>
            <a:ext cx="1051560" cy="146304"/>
          </a:xfrm>
          <a:prstGeom prst="roundRect">
            <a:avLst>
              <a:gd name="adj" fmla="val 18750"/>
            </a:avLst>
          </a:prstGeom>
          <a:solidFill>
            <a:srgbClr val="D6E4F5"/>
          </a:solidFill>
          <a:ln w="3810">
            <a:solidFill>
              <a:srgbClr val="2458A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3717036" y="294436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· SHAP</a:t>
            </a:r>
            <a:endParaRPr lang="en-US" sz="600" dirty="0"/>
          </a:p>
        </p:txBody>
      </p:sp>
      <p:sp>
        <p:nvSpPr>
          <p:cNvPr id="44" name="Shape 36"/>
          <p:cNvSpPr/>
          <p:nvPr/>
        </p:nvSpPr>
        <p:spPr>
          <a:xfrm>
            <a:off x="2555748" y="3127248"/>
            <a:ext cx="1051560" cy="146304"/>
          </a:xfrm>
          <a:prstGeom prst="roundRect">
            <a:avLst>
              <a:gd name="adj" fmla="val 18750"/>
            </a:avLst>
          </a:prstGeom>
          <a:solidFill>
            <a:srgbClr val="D6E4F5"/>
          </a:solidFill>
          <a:ln w="3810">
            <a:solidFill>
              <a:srgbClr val="2458A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45" name="Text 37"/>
          <p:cNvSpPr/>
          <p:nvPr/>
        </p:nvSpPr>
        <p:spPr>
          <a:xfrm>
            <a:off x="2592324" y="312724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· CodeCarbon</a:t>
            </a:r>
            <a:endParaRPr lang="en-US" sz="600" dirty="0"/>
          </a:p>
        </p:txBody>
      </p:sp>
      <p:sp>
        <p:nvSpPr>
          <p:cNvPr id="46" name="Shape 38"/>
          <p:cNvSpPr/>
          <p:nvPr/>
        </p:nvSpPr>
        <p:spPr>
          <a:xfrm>
            <a:off x="3680460" y="3127248"/>
            <a:ext cx="1051560" cy="146304"/>
          </a:xfrm>
          <a:prstGeom prst="roundRect">
            <a:avLst>
              <a:gd name="adj" fmla="val 18750"/>
            </a:avLst>
          </a:prstGeom>
          <a:solidFill>
            <a:srgbClr val="D6E4F5"/>
          </a:solidFill>
          <a:ln w="3810">
            <a:solidFill>
              <a:srgbClr val="2458A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47" name="Text 39"/>
          <p:cNvSpPr/>
          <p:nvPr/>
        </p:nvSpPr>
        <p:spPr>
          <a:xfrm>
            <a:off x="3717036" y="312724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· ResNet-50</a:t>
            </a:r>
            <a:endParaRPr lang="en-US" sz="600" dirty="0"/>
          </a:p>
        </p:txBody>
      </p:sp>
      <p:sp>
        <p:nvSpPr>
          <p:cNvPr id="48" name="Shape 40"/>
          <p:cNvSpPr/>
          <p:nvPr/>
        </p:nvSpPr>
        <p:spPr>
          <a:xfrm>
            <a:off x="4901184" y="640080"/>
            <a:ext cx="2359152" cy="274320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4901184" y="640080"/>
            <a:ext cx="2359152" cy="274320"/>
          </a:xfrm>
          <a:prstGeom prst="rect">
            <a:avLst/>
          </a:prstGeom>
          <a:solidFill>
            <a:srgbClr val="1B3562"/>
          </a:solidFill>
          <a:ln w="3810">
            <a:solidFill>
              <a:srgbClr val="1B35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0" name="Text 42"/>
          <p:cNvSpPr/>
          <p:nvPr/>
        </p:nvSpPr>
        <p:spPr>
          <a:xfrm>
            <a:off x="4965192" y="6400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3.METHODOLOGY &amp; WORKFLOW</a:t>
            </a:r>
            <a:endParaRPr lang="en-US" sz="750" dirty="0"/>
          </a:p>
        </p:txBody>
      </p:sp>
      <p:sp>
        <p:nvSpPr>
          <p:cNvPr id="51" name="Shape 43"/>
          <p:cNvSpPr/>
          <p:nvPr/>
        </p:nvSpPr>
        <p:spPr>
          <a:xfrm>
            <a:off x="5029200" y="950976"/>
            <a:ext cx="2103120" cy="228600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2" name="Text 44"/>
          <p:cNvSpPr/>
          <p:nvPr/>
        </p:nvSpPr>
        <p:spPr>
          <a:xfrm>
            <a:off x="5029200" y="9509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640" dirty="0"/>
          </a:p>
        </p:txBody>
      </p:sp>
      <p:sp>
        <p:nvSpPr>
          <p:cNvPr id="53" name="Shape 45"/>
          <p:cNvSpPr/>
          <p:nvPr/>
        </p:nvSpPr>
        <p:spPr>
          <a:xfrm>
            <a:off x="6080760" y="1179576"/>
            <a:ext cx="0" cy="5486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54" name="Shape 46"/>
          <p:cNvSpPr/>
          <p:nvPr/>
        </p:nvSpPr>
        <p:spPr>
          <a:xfrm>
            <a:off x="5029200" y="1234440"/>
            <a:ext cx="2103120" cy="228600"/>
          </a:xfrm>
          <a:prstGeom prst="roundRect">
            <a:avLst>
              <a:gd name="adj" fmla="val 160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5" name="Text 47"/>
          <p:cNvSpPr/>
          <p:nvPr/>
        </p:nvSpPr>
        <p:spPr>
          <a:xfrm>
            <a:off x="502920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640" dirty="0"/>
          </a:p>
        </p:txBody>
      </p:sp>
      <p:sp>
        <p:nvSpPr>
          <p:cNvPr id="56" name="Shape 48"/>
          <p:cNvSpPr/>
          <p:nvPr/>
        </p:nvSpPr>
        <p:spPr>
          <a:xfrm>
            <a:off x="6080760" y="1463040"/>
            <a:ext cx="0" cy="5486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57" name="Shape 49"/>
          <p:cNvSpPr/>
          <p:nvPr/>
        </p:nvSpPr>
        <p:spPr>
          <a:xfrm>
            <a:off x="5029200" y="1517904"/>
            <a:ext cx="2103120" cy="2286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8" name="Text 50"/>
          <p:cNvSpPr/>
          <p:nvPr/>
        </p:nvSpPr>
        <p:spPr>
          <a:xfrm>
            <a:off x="5029200" y="15179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 EXTRACTION</a:t>
            </a:r>
            <a:endParaRPr lang="en-US" sz="640" dirty="0"/>
          </a:p>
        </p:txBody>
      </p:sp>
      <p:sp>
        <p:nvSpPr>
          <p:cNvPr id="59" name="Shape 51"/>
          <p:cNvSpPr/>
          <p:nvPr/>
        </p:nvSpPr>
        <p:spPr>
          <a:xfrm>
            <a:off x="6080760" y="1746504"/>
            <a:ext cx="0" cy="5486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0" name="Shape 52"/>
          <p:cNvSpPr/>
          <p:nvPr/>
        </p:nvSpPr>
        <p:spPr>
          <a:xfrm>
            <a:off x="5029200" y="1801368"/>
            <a:ext cx="2103120" cy="228600"/>
          </a:xfrm>
          <a:prstGeom prst="roundRect">
            <a:avLst>
              <a:gd name="adj" fmla="val 16000"/>
            </a:avLst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1" name="Text 53"/>
          <p:cNvSpPr/>
          <p:nvPr/>
        </p:nvSpPr>
        <p:spPr>
          <a:xfrm>
            <a:off x="5029200" y="1801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640" dirty="0"/>
          </a:p>
        </p:txBody>
      </p:sp>
      <p:sp>
        <p:nvSpPr>
          <p:cNvPr id="62" name="Shape 54"/>
          <p:cNvSpPr/>
          <p:nvPr/>
        </p:nvSpPr>
        <p:spPr>
          <a:xfrm>
            <a:off x="6080760" y="2029968"/>
            <a:ext cx="0" cy="5486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3" name="Shape 55"/>
          <p:cNvSpPr/>
          <p:nvPr/>
        </p:nvSpPr>
        <p:spPr>
          <a:xfrm>
            <a:off x="5029200" y="2084832"/>
            <a:ext cx="2103120" cy="228600"/>
          </a:xfrm>
          <a:prstGeom prst="roundRect">
            <a:avLst>
              <a:gd name="adj" fmla="val 16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4" name="Text 56"/>
          <p:cNvSpPr/>
          <p:nvPr/>
        </p:nvSpPr>
        <p:spPr>
          <a:xfrm>
            <a:off x="5029200" y="20848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DECISION SUPPORT</a:t>
            </a:r>
            <a:endParaRPr lang="en-US" sz="640" dirty="0"/>
          </a:p>
        </p:txBody>
      </p:sp>
      <p:sp>
        <p:nvSpPr>
          <p:cNvPr id="65" name="Shape 57"/>
          <p:cNvSpPr/>
          <p:nvPr/>
        </p:nvSpPr>
        <p:spPr>
          <a:xfrm>
            <a:off x="6080760" y="2313432"/>
            <a:ext cx="0" cy="5486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6" name="Shape 58"/>
          <p:cNvSpPr/>
          <p:nvPr/>
        </p:nvSpPr>
        <p:spPr>
          <a:xfrm>
            <a:off x="5029200" y="2368296"/>
            <a:ext cx="2103120" cy="2286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7" name="Text 59"/>
          <p:cNvSpPr/>
          <p:nvPr/>
        </p:nvSpPr>
        <p:spPr>
          <a:xfrm>
            <a:off x="5029200" y="23682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VALIDATION</a:t>
            </a:r>
            <a:endParaRPr lang="en-US" sz="640" dirty="0"/>
          </a:p>
        </p:txBody>
      </p:sp>
      <p:sp>
        <p:nvSpPr>
          <p:cNvPr id="68" name="Shape 60"/>
          <p:cNvSpPr/>
          <p:nvPr/>
        </p:nvSpPr>
        <p:spPr>
          <a:xfrm>
            <a:off x="6080760" y="2596896"/>
            <a:ext cx="0" cy="5486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9" name="Shape 61"/>
          <p:cNvSpPr/>
          <p:nvPr/>
        </p:nvSpPr>
        <p:spPr>
          <a:xfrm>
            <a:off x="5029200" y="2651760"/>
            <a:ext cx="2103120" cy="228600"/>
          </a:xfrm>
          <a:prstGeom prst="roundRect">
            <a:avLst>
              <a:gd name="adj" fmla="val 16000"/>
            </a:avLst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70" name="Text 62"/>
          <p:cNvSpPr/>
          <p:nvPr/>
        </p:nvSpPr>
        <p:spPr>
          <a:xfrm>
            <a:off x="5029200" y="2651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</a:t>
            </a:r>
            <a:endParaRPr lang="en-US" sz="640" dirty="0"/>
          </a:p>
        </p:txBody>
      </p:sp>
      <p:sp>
        <p:nvSpPr>
          <p:cNvPr id="71" name="Text 63"/>
          <p:cNvSpPr/>
          <p:nvPr/>
        </p:nvSpPr>
        <p:spPr>
          <a:xfrm>
            <a:off x="4974336" y="296265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transforms raw waste images into actionable risk insights and governance decisions through quantification, visualization, and real-time monitoring.</a:t>
            </a:r>
            <a:endParaRPr lang="en-US" sz="630" dirty="0"/>
          </a:p>
        </p:txBody>
      </p:sp>
      <p:sp>
        <p:nvSpPr>
          <p:cNvPr id="72" name="Shape 64"/>
          <p:cNvSpPr/>
          <p:nvPr/>
        </p:nvSpPr>
        <p:spPr>
          <a:xfrm>
            <a:off x="7319772" y="640080"/>
            <a:ext cx="2359152" cy="274320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73" name="Shape 65"/>
          <p:cNvSpPr/>
          <p:nvPr/>
        </p:nvSpPr>
        <p:spPr>
          <a:xfrm>
            <a:off x="7319772" y="640080"/>
            <a:ext cx="2359152" cy="274320"/>
          </a:xfrm>
          <a:prstGeom prst="rect">
            <a:avLst/>
          </a:prstGeom>
          <a:solidFill>
            <a:srgbClr val="1B3562"/>
          </a:solidFill>
          <a:ln w="3810">
            <a:solidFill>
              <a:srgbClr val="1B35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74" name="Text 66"/>
          <p:cNvSpPr/>
          <p:nvPr/>
        </p:nvSpPr>
        <p:spPr>
          <a:xfrm>
            <a:off x="7383780" y="6400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4.RQ1: KEY RISK CATEGORIES</a:t>
            </a:r>
            <a:endParaRPr lang="en-US" sz="750" dirty="0"/>
          </a:p>
        </p:txBody>
      </p:sp>
      <p:sp>
        <p:nvSpPr>
          <p:cNvPr id="75" name="Text 67"/>
          <p:cNvSpPr/>
          <p:nvPr/>
        </p:nvSpPr>
        <p:spPr>
          <a:xfrm>
            <a:off x="7392924" y="94183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What are the key risk categories that should be monitored in a waste-sorting AI system?</a:t>
            </a:r>
            <a:endParaRPr lang="en-US" sz="660" dirty="0"/>
          </a:p>
        </p:txBody>
      </p:sp>
      <p:graphicFrame>
        <p:nvGraphicFramePr>
          <p:cNvPr id="76" name="Chart 0" descr=""/>
          <p:cNvGraphicFramePr/>
          <p:nvPr/>
        </p:nvGraphicFramePr>
        <p:xfrm>
          <a:off x="7374636" y="1280160"/>
          <a:ext cx="2249424" cy="14996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77" name="Shape 68"/>
          <p:cNvSpPr/>
          <p:nvPr/>
        </p:nvSpPr>
        <p:spPr>
          <a:xfrm>
            <a:off x="7374636" y="2907792"/>
            <a:ext cx="2249424" cy="402336"/>
          </a:xfrm>
          <a:prstGeom prst="rect">
            <a:avLst/>
          </a:prstGeom>
          <a:solidFill>
            <a:srgbClr val="FFFDE7"/>
          </a:solidFill>
          <a:ln w="10160">
            <a:solidFill>
              <a:srgbClr val="F9A82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pic>
        <p:nvPicPr>
          <p:cNvPr id="7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0" y="2980944"/>
            <a:ext cx="237744" cy="237744"/>
          </a:xfrm>
          <a:prstGeom prst="rect">
            <a:avLst/>
          </a:prstGeom>
        </p:spPr>
      </p:pic>
      <p:sp>
        <p:nvSpPr>
          <p:cNvPr id="79" name="Text 69"/>
          <p:cNvSpPr/>
          <p:nvPr/>
        </p:nvSpPr>
        <p:spPr>
          <a:xfrm>
            <a:off x="7703820" y="293522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Explainability risk appears highest (72); fairness (35) and performance (50) require continuous monitoring.</a:t>
            </a:r>
            <a:endParaRPr lang="en-US" sz="640" dirty="0"/>
          </a:p>
        </p:txBody>
      </p:sp>
      <p:sp>
        <p:nvSpPr>
          <p:cNvPr id="80" name="Shape 70"/>
          <p:cNvSpPr/>
          <p:nvPr/>
        </p:nvSpPr>
        <p:spPr>
          <a:xfrm>
            <a:off x="9738360" y="640080"/>
            <a:ext cx="2359152" cy="274320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81" name="Shape 71"/>
          <p:cNvSpPr/>
          <p:nvPr/>
        </p:nvSpPr>
        <p:spPr>
          <a:xfrm>
            <a:off x="9738360" y="640080"/>
            <a:ext cx="2359152" cy="274320"/>
          </a:xfrm>
          <a:prstGeom prst="rect">
            <a:avLst/>
          </a:prstGeom>
          <a:solidFill>
            <a:srgbClr val="1B3562"/>
          </a:solidFill>
          <a:ln w="3810">
            <a:solidFill>
              <a:srgbClr val="1B35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82" name="Text 72"/>
          <p:cNvSpPr/>
          <p:nvPr/>
        </p:nvSpPr>
        <p:spPr>
          <a:xfrm>
            <a:off x="9802368" y="6400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5.RQ2: QUANTIFYING RISKS</a:t>
            </a:r>
            <a:endParaRPr lang="en-US" sz="750" dirty="0"/>
          </a:p>
        </p:txBody>
      </p:sp>
      <p:sp>
        <p:nvSpPr>
          <p:cNvPr id="83" name="Text 73"/>
          <p:cNvSpPr/>
          <p:nvPr/>
        </p:nvSpPr>
        <p:spPr>
          <a:xfrm>
            <a:off x="9811512" y="94183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How can risks be quantified using measurable metrics?</a:t>
            </a:r>
            <a:endParaRPr lang="en-US" sz="660" dirty="0"/>
          </a:p>
        </p:txBody>
      </p:sp>
      <p:graphicFrame>
        <p:nvGraphicFramePr>
          <p:cNvPr id="84" name="Chart 1" descr=""/>
          <p:cNvGraphicFramePr/>
          <p:nvPr/>
        </p:nvGraphicFramePr>
        <p:xfrm>
          <a:off x="9793224" y="1207008"/>
          <a:ext cx="2249424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85" name="Shape 74"/>
          <p:cNvSpPr/>
          <p:nvPr/>
        </p:nvSpPr>
        <p:spPr>
          <a:xfrm>
            <a:off x="9793224" y="2907792"/>
            <a:ext cx="2249424" cy="402336"/>
          </a:xfrm>
          <a:prstGeom prst="rect">
            <a:avLst/>
          </a:prstGeom>
          <a:solidFill>
            <a:srgbClr val="FFFDE7"/>
          </a:solidFill>
          <a:ln w="10160">
            <a:solidFill>
              <a:srgbClr val="F9A82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pic>
        <p:nvPicPr>
          <p:cNvPr id="86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8088" y="2980944"/>
            <a:ext cx="237744" cy="237744"/>
          </a:xfrm>
          <a:prstGeom prst="rect">
            <a:avLst/>
          </a:prstGeom>
        </p:spPr>
      </p:pic>
      <p:sp>
        <p:nvSpPr>
          <p:cNvPr id="87" name="Text 75"/>
          <p:cNvSpPr/>
          <p:nvPr/>
        </p:nvSpPr>
        <p:spPr>
          <a:xfrm>
            <a:off x="10122408" y="293522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Composite scores: Fairness 62 · Performance 78 · Explainability 85 · Overall 75 — measurable AI health indicators.</a:t>
            </a:r>
            <a:endParaRPr lang="en-US" sz="640" dirty="0"/>
          </a:p>
        </p:txBody>
      </p:sp>
      <p:sp>
        <p:nvSpPr>
          <p:cNvPr id="88" name="Shape 76"/>
          <p:cNvSpPr/>
          <p:nvPr/>
        </p:nvSpPr>
        <p:spPr>
          <a:xfrm>
            <a:off x="64008" y="3456432"/>
            <a:ext cx="2359152" cy="24871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89" name="Shape 77"/>
          <p:cNvSpPr/>
          <p:nvPr/>
        </p:nvSpPr>
        <p:spPr>
          <a:xfrm>
            <a:off x="64008" y="3456432"/>
            <a:ext cx="2359152" cy="274320"/>
          </a:xfrm>
          <a:prstGeom prst="rect">
            <a:avLst/>
          </a:prstGeom>
          <a:solidFill>
            <a:srgbClr val="1B3562"/>
          </a:solidFill>
          <a:ln w="3810">
            <a:solidFill>
              <a:srgbClr val="1B35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0" name="Text 78"/>
          <p:cNvSpPr/>
          <p:nvPr/>
        </p:nvSpPr>
        <p:spPr>
          <a:xfrm>
            <a:off x="128016" y="34564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6.RQ3: DASHBOARD USABILITY &amp; STAKEHOLDER DECISION MAKING</a:t>
            </a:r>
            <a:endParaRPr lang="en-US" sz="750" dirty="0"/>
          </a:p>
        </p:txBody>
      </p:sp>
      <p:sp>
        <p:nvSpPr>
          <p:cNvPr id="91" name="Text 79"/>
          <p:cNvSpPr/>
          <p:nvPr/>
        </p:nvSpPr>
        <p:spPr>
          <a:xfrm>
            <a:off x="137160" y="375818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How does the dashboard support usability and stakeholder decision making?</a:t>
            </a:r>
            <a:endParaRPr lang="en-US" sz="660" dirty="0"/>
          </a:p>
        </p:txBody>
      </p:sp>
      <p:graphicFrame>
        <p:nvGraphicFramePr>
          <p:cNvPr id="92" name="Chart 2" descr=""/>
          <p:cNvGraphicFramePr/>
          <p:nvPr/>
        </p:nvGraphicFramePr>
        <p:xfrm>
          <a:off x="118872" y="4023360"/>
          <a:ext cx="2249424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93" name="Shape 80"/>
          <p:cNvSpPr/>
          <p:nvPr/>
        </p:nvSpPr>
        <p:spPr>
          <a:xfrm>
            <a:off x="118872" y="5504688"/>
            <a:ext cx="2249424" cy="402336"/>
          </a:xfrm>
          <a:prstGeom prst="rect">
            <a:avLst/>
          </a:prstGeom>
          <a:solidFill>
            <a:srgbClr val="FFFDE7"/>
          </a:solidFill>
          <a:ln w="10160">
            <a:solidFill>
              <a:srgbClr val="F9A82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pic>
        <p:nvPicPr>
          <p:cNvPr id="94" name="Image 8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736" y="5577840"/>
            <a:ext cx="237744" cy="237744"/>
          </a:xfrm>
          <a:prstGeom prst="rect">
            <a:avLst/>
          </a:prstGeom>
        </p:spPr>
      </p:pic>
      <p:sp>
        <p:nvSpPr>
          <p:cNvPr id="95" name="Text 81"/>
          <p:cNvSpPr/>
          <p:nvPr/>
        </p:nvSpPr>
        <p:spPr>
          <a:xfrm>
            <a:off x="448056" y="55321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Texture (0.17) is the top feature — 3× more important than background. XAI audit PASS. Grad-CAM confirms correct focus.</a:t>
            </a:r>
            <a:endParaRPr lang="en-US" sz="640" dirty="0"/>
          </a:p>
        </p:txBody>
      </p:sp>
      <p:sp>
        <p:nvSpPr>
          <p:cNvPr id="96" name="Shape 82"/>
          <p:cNvSpPr/>
          <p:nvPr/>
        </p:nvSpPr>
        <p:spPr>
          <a:xfrm>
            <a:off x="2482596" y="3456432"/>
            <a:ext cx="2359152" cy="24871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7" name="Shape 83"/>
          <p:cNvSpPr/>
          <p:nvPr/>
        </p:nvSpPr>
        <p:spPr>
          <a:xfrm>
            <a:off x="2482596" y="3456432"/>
            <a:ext cx="2359152" cy="274320"/>
          </a:xfrm>
          <a:prstGeom prst="rect">
            <a:avLst/>
          </a:prstGeom>
          <a:solidFill>
            <a:srgbClr val="1B3562"/>
          </a:solidFill>
          <a:ln w="3810">
            <a:solidFill>
              <a:srgbClr val="1B35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8" name="Text 84"/>
          <p:cNvSpPr/>
          <p:nvPr/>
        </p:nvSpPr>
        <p:spPr>
          <a:xfrm>
            <a:off x="2546604" y="34564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7.RQ4: REAL-TIME MONITORING</a:t>
            </a:r>
            <a:endParaRPr lang="en-US" sz="750" dirty="0"/>
          </a:p>
        </p:txBody>
      </p:sp>
      <p:sp>
        <p:nvSpPr>
          <p:cNvPr id="99" name="Text 85"/>
          <p:cNvSpPr/>
          <p:nvPr/>
        </p:nvSpPr>
        <p:spPr>
          <a:xfrm>
            <a:off x="2555748" y="375818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How effective is real-time monitoring in detecting and tracking AI risks?</a:t>
            </a:r>
            <a:endParaRPr lang="en-US" sz="660" dirty="0"/>
          </a:p>
        </p:txBody>
      </p:sp>
      <p:graphicFrame>
        <p:nvGraphicFramePr>
          <p:cNvPr id="100" name="Chart 3" descr=""/>
          <p:cNvGraphicFramePr/>
          <p:nvPr/>
        </p:nvGraphicFramePr>
        <p:xfrm>
          <a:off x="2537460" y="4023360"/>
          <a:ext cx="2249424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101" name="Shape 86"/>
          <p:cNvSpPr/>
          <p:nvPr/>
        </p:nvSpPr>
        <p:spPr>
          <a:xfrm>
            <a:off x="2537460" y="5504688"/>
            <a:ext cx="2249424" cy="402336"/>
          </a:xfrm>
          <a:prstGeom prst="rect">
            <a:avLst/>
          </a:prstGeom>
          <a:solidFill>
            <a:srgbClr val="FFFDE7"/>
          </a:solidFill>
          <a:ln w="10160">
            <a:solidFill>
              <a:srgbClr val="F9A82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pic>
        <p:nvPicPr>
          <p:cNvPr id="102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92324" y="5577840"/>
            <a:ext cx="237744" cy="237744"/>
          </a:xfrm>
          <a:prstGeom prst="rect">
            <a:avLst/>
          </a:prstGeom>
        </p:spPr>
      </p:pic>
      <p:sp>
        <p:nvSpPr>
          <p:cNvPr id="103" name="Text 87"/>
          <p:cNvSpPr/>
          <p:nvPr/>
        </p:nvSpPr>
        <p:spPr>
          <a:xfrm>
            <a:off x="2866644" y="55321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Risk score dropped from 22 → 13 over 5 months. Continuous monitoring enables proactive governance actions.</a:t>
            </a:r>
            <a:endParaRPr lang="en-US" sz="640" dirty="0"/>
          </a:p>
        </p:txBody>
      </p:sp>
      <p:sp>
        <p:nvSpPr>
          <p:cNvPr id="104" name="Shape 88"/>
          <p:cNvSpPr/>
          <p:nvPr/>
        </p:nvSpPr>
        <p:spPr>
          <a:xfrm>
            <a:off x="4901184" y="3456432"/>
            <a:ext cx="4777740" cy="24871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05" name="Shape 89"/>
          <p:cNvSpPr/>
          <p:nvPr/>
        </p:nvSpPr>
        <p:spPr>
          <a:xfrm>
            <a:off x="4901184" y="3456432"/>
            <a:ext cx="4777740" cy="274320"/>
          </a:xfrm>
          <a:prstGeom prst="rect">
            <a:avLst/>
          </a:prstGeom>
          <a:solidFill>
            <a:srgbClr val="1B3562"/>
          </a:solidFill>
          <a:ln w="3810">
            <a:solidFill>
              <a:srgbClr val="1B35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06" name="Text 90"/>
          <p:cNvSpPr/>
          <p:nvPr/>
        </p:nvSpPr>
        <p:spPr>
          <a:xfrm>
            <a:off x="4965192" y="3456432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8.RQ5: RISK MITIGATION &amp; GOVERNANCE</a:t>
            </a:r>
            <a:endParaRPr lang="en-US" sz="750" dirty="0"/>
          </a:p>
        </p:txBody>
      </p:sp>
      <p:sp>
        <p:nvSpPr>
          <p:cNvPr id="107" name="Text 91"/>
          <p:cNvSpPr/>
          <p:nvPr/>
        </p:nvSpPr>
        <p:spPr>
          <a:xfrm>
            <a:off x="4992624" y="3758184"/>
            <a:ext cx="22425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FAIRNESS RISK DETECTION</a:t>
            </a:r>
            <a:endParaRPr lang="en-US" sz="720" dirty="0"/>
          </a:p>
        </p:txBody>
      </p:sp>
      <p:sp>
        <p:nvSpPr>
          <p:cNvPr id="108" name="Text 92"/>
          <p:cNvSpPr/>
          <p:nvPr/>
        </p:nvSpPr>
        <p:spPr>
          <a:xfrm>
            <a:off x="7344918" y="3758184"/>
            <a:ext cx="22425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3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RISK DETECTION ACCURACY</a:t>
            </a:r>
            <a:endParaRPr lang="en-US" sz="720" dirty="0"/>
          </a:p>
        </p:txBody>
      </p:sp>
      <p:graphicFrame>
        <p:nvGraphicFramePr>
          <p:cNvPr id="109" name="Chart 4" descr=""/>
          <p:cNvGraphicFramePr/>
          <p:nvPr/>
        </p:nvGraphicFramePr>
        <p:xfrm>
          <a:off x="4956048" y="3931920"/>
          <a:ext cx="2279142" cy="1517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5"/>
          </a:graphicData>
        </a:graphic>
      </p:graphicFrame>
      <p:graphicFrame>
        <p:nvGraphicFramePr>
          <p:cNvPr id="110" name="Chart 5" descr=""/>
          <p:cNvGraphicFramePr/>
          <p:nvPr/>
        </p:nvGraphicFramePr>
        <p:xfrm>
          <a:off x="7344918" y="3931920"/>
          <a:ext cx="2279142" cy="1517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6"/>
          </a:graphicData>
        </a:graphic>
      </p:graphicFrame>
      <p:sp>
        <p:nvSpPr>
          <p:cNvPr id="111" name="Shape 93"/>
          <p:cNvSpPr/>
          <p:nvPr/>
        </p:nvSpPr>
        <p:spPr>
          <a:xfrm>
            <a:off x="4956048" y="5468112"/>
            <a:ext cx="2279142" cy="402336"/>
          </a:xfrm>
          <a:prstGeom prst="rect">
            <a:avLst/>
          </a:prstGeom>
          <a:solidFill>
            <a:srgbClr val="FFFDE7"/>
          </a:solidFill>
          <a:ln w="10160">
            <a:solidFill>
              <a:srgbClr val="F9A82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pic>
        <p:nvPicPr>
          <p:cNvPr id="112" name="Image 10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10912" y="5541264"/>
            <a:ext cx="237744" cy="237744"/>
          </a:xfrm>
          <a:prstGeom prst="rect">
            <a:avLst/>
          </a:prstGeom>
        </p:spPr>
      </p:pic>
      <p:sp>
        <p:nvSpPr>
          <p:cNvPr id="113" name="Text 94"/>
          <p:cNvSpPr/>
          <p:nvPr/>
        </p:nvSpPr>
        <p:spPr>
          <a:xfrm>
            <a:off x="5285232" y="5495544"/>
            <a:ext cx="18950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Fairness gap: 17.1% → 3.8% after rebalancing. Europe 91.2%, SE Asia 88.0%, Sub-Saharan Africa 85.7%. PASS ✅</a:t>
            </a:r>
            <a:endParaRPr lang="en-US" sz="640" dirty="0"/>
          </a:p>
        </p:txBody>
      </p:sp>
      <p:sp>
        <p:nvSpPr>
          <p:cNvPr id="114" name="Shape 95"/>
          <p:cNvSpPr/>
          <p:nvPr/>
        </p:nvSpPr>
        <p:spPr>
          <a:xfrm>
            <a:off x="7344918" y="5468112"/>
            <a:ext cx="2279142" cy="402336"/>
          </a:xfrm>
          <a:prstGeom prst="rect">
            <a:avLst/>
          </a:prstGeom>
          <a:solidFill>
            <a:srgbClr val="FFFDE7"/>
          </a:solidFill>
          <a:ln w="10160">
            <a:solidFill>
              <a:srgbClr val="F9A82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pic>
        <p:nvPicPr>
          <p:cNvPr id="115" name="Image 11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99782" y="5541264"/>
            <a:ext cx="237744" cy="237744"/>
          </a:xfrm>
          <a:prstGeom prst="rect">
            <a:avLst/>
          </a:prstGeom>
        </p:spPr>
      </p:pic>
      <p:sp>
        <p:nvSpPr>
          <p:cNvPr id="116" name="Text 96"/>
          <p:cNvSpPr/>
          <p:nvPr/>
        </p:nvSpPr>
        <p:spPr>
          <a:xfrm>
            <a:off x="7674102" y="5495544"/>
            <a:ext cx="18950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MobileNetV3 INT8: 16.8 FPS · 88.1% accuracy · 3.2 MB model. Carbon payback &lt; 1 day. PRODUCTION READY ✅</a:t>
            </a:r>
            <a:endParaRPr lang="en-US" sz="640" dirty="0"/>
          </a:p>
        </p:txBody>
      </p:sp>
      <p:sp>
        <p:nvSpPr>
          <p:cNvPr id="117" name="Shape 97"/>
          <p:cNvSpPr/>
          <p:nvPr/>
        </p:nvSpPr>
        <p:spPr>
          <a:xfrm>
            <a:off x="9738360" y="3456432"/>
            <a:ext cx="2359152" cy="24871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8" name="Shape 98"/>
          <p:cNvSpPr/>
          <p:nvPr/>
        </p:nvSpPr>
        <p:spPr>
          <a:xfrm>
            <a:off x="9738360" y="3456432"/>
            <a:ext cx="2359152" cy="274320"/>
          </a:xfrm>
          <a:prstGeom prst="rect">
            <a:avLst/>
          </a:prstGeom>
          <a:solidFill>
            <a:srgbClr val="1B3562"/>
          </a:solidFill>
          <a:ln w="3810">
            <a:solidFill>
              <a:srgbClr val="1B35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9" name="Text 99"/>
          <p:cNvSpPr/>
          <p:nvPr/>
        </p:nvSpPr>
        <p:spPr>
          <a:xfrm>
            <a:off x="9802368" y="34564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750" dirty="0"/>
          </a:p>
        </p:txBody>
      </p:sp>
      <p:pic>
        <p:nvPicPr>
          <p:cNvPr id="120" name="Image 12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35056" y="3785616"/>
            <a:ext cx="365760" cy="365760"/>
          </a:xfrm>
          <a:prstGeom prst="rect">
            <a:avLst/>
          </a:prstGeom>
        </p:spPr>
      </p:pic>
      <p:sp>
        <p:nvSpPr>
          <p:cNvPr id="121" name="Text 100"/>
          <p:cNvSpPr/>
          <p:nvPr/>
        </p:nvSpPr>
        <p:spPr>
          <a:xfrm>
            <a:off x="9811512" y="4187952"/>
            <a:ext cx="22311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demonstrates how a responsible AI pipeline for waste classification can enhance transparency, fairness, explainability, and governance.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ResNet-50 (94% accuracy), Grad-CAM + SHAP explainability, geographic fairness auditing, CodeCarbon tracking, and MobileNetV3 INT8 edge deployment, the system empowers stakeholders to detect risks early and implement mitigation strategies.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leads to more trustworthy, accountable, and reliable AI systems in real-world recycling deployments.</a:t>
            </a:r>
            <a:endParaRPr lang="en-US" sz="690" dirty="0"/>
          </a:p>
        </p:txBody>
      </p:sp>
      <p:sp>
        <p:nvSpPr>
          <p:cNvPr id="122" name="Shape 101"/>
          <p:cNvSpPr/>
          <p:nvPr/>
        </p:nvSpPr>
        <p:spPr>
          <a:xfrm>
            <a:off x="9829800" y="5760720"/>
            <a:ext cx="2176272" cy="146304"/>
          </a:xfrm>
          <a:prstGeom prst="roundRect">
            <a:avLst>
              <a:gd name="adj" fmla="val 18750"/>
            </a:avLst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3" name="Text 102"/>
          <p:cNvSpPr/>
          <p:nvPr/>
        </p:nvSpPr>
        <p:spPr>
          <a:xfrm>
            <a:off x="9848088" y="5760720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AI Score: 0.893  |  +14.5% above baseline</a:t>
            </a:r>
            <a:endParaRPr lang="en-US" sz="630" dirty="0"/>
          </a:p>
        </p:txBody>
      </p:sp>
      <p:sp>
        <p:nvSpPr>
          <p:cNvPr id="124" name="Shape 103"/>
          <p:cNvSpPr/>
          <p:nvPr/>
        </p:nvSpPr>
        <p:spPr>
          <a:xfrm>
            <a:off x="0" y="5998464"/>
            <a:ext cx="12161520" cy="566928"/>
          </a:xfrm>
          <a:prstGeom prst="rect">
            <a:avLst/>
          </a:prstGeom>
          <a:solidFill>
            <a:srgbClr val="162952"/>
          </a:solidFill>
          <a:ln w="3810">
            <a:solidFill>
              <a:srgbClr val="16295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pic>
        <p:nvPicPr>
          <p:cNvPr id="125" name="Image 13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728" y="6108192"/>
            <a:ext cx="329184" cy="329184"/>
          </a:xfrm>
          <a:prstGeom prst="rect">
            <a:avLst/>
          </a:prstGeom>
        </p:spPr>
      </p:pic>
      <p:sp>
        <p:nvSpPr>
          <p:cNvPr id="126" name="Text 104"/>
          <p:cNvSpPr/>
          <p:nvPr/>
        </p:nvSpPr>
        <p:spPr>
          <a:xfrm>
            <a:off x="475488" y="612648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800" dirty="0"/>
          </a:p>
        </p:txBody>
      </p:sp>
      <p:sp>
        <p:nvSpPr>
          <p:cNvPr id="127" name="Shape 105"/>
          <p:cNvSpPr/>
          <p:nvPr/>
        </p:nvSpPr>
        <p:spPr>
          <a:xfrm>
            <a:off x="1810512" y="6126480"/>
            <a:ext cx="0" cy="310896"/>
          </a:xfrm>
          <a:prstGeom prst="line">
            <a:avLst/>
          </a:prstGeom>
          <a:noFill/>
          <a:ln w="6350">
            <a:solidFill>
              <a:srgbClr val="6677AA"/>
            </a:solidFill>
            <a:prstDash val="solid"/>
          </a:ln>
        </p:spPr>
      </p:sp>
      <p:pic>
        <p:nvPicPr>
          <p:cNvPr id="128" name="Image 14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20240" y="6126480"/>
            <a:ext cx="256032" cy="256032"/>
          </a:xfrm>
          <a:prstGeom prst="rect">
            <a:avLst/>
          </a:prstGeom>
        </p:spPr>
      </p:pic>
      <p:sp>
        <p:nvSpPr>
          <p:cNvPr id="129" name="Text 106"/>
          <p:cNvSpPr/>
          <p:nvPr/>
        </p:nvSpPr>
        <p:spPr>
          <a:xfrm>
            <a:off x="2212848" y="607161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key AI risks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D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dimensions</a:t>
            </a:r>
            <a:endParaRPr lang="en-US" sz="680" dirty="0"/>
          </a:p>
        </p:txBody>
      </p:sp>
      <p:sp>
        <p:nvSpPr>
          <p:cNvPr id="130" name="Shape 107"/>
          <p:cNvSpPr/>
          <p:nvPr/>
        </p:nvSpPr>
        <p:spPr>
          <a:xfrm>
            <a:off x="3877056" y="6126480"/>
            <a:ext cx="0" cy="310896"/>
          </a:xfrm>
          <a:prstGeom prst="line">
            <a:avLst/>
          </a:prstGeom>
          <a:noFill/>
          <a:ln w="6350">
            <a:solidFill>
              <a:srgbClr val="6677AA"/>
            </a:solidFill>
            <a:prstDash val="solid"/>
          </a:ln>
        </p:spPr>
      </p:sp>
      <p:pic>
        <p:nvPicPr>
          <p:cNvPr id="131" name="Image 15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50208" y="6126480"/>
            <a:ext cx="256032" cy="256032"/>
          </a:xfrm>
          <a:prstGeom prst="rect">
            <a:avLst/>
          </a:prstGeom>
        </p:spPr>
      </p:pic>
      <p:sp>
        <p:nvSpPr>
          <p:cNvPr id="132" name="Text 108"/>
          <p:cNvSpPr/>
          <p:nvPr/>
        </p:nvSpPr>
        <p:spPr>
          <a:xfrm>
            <a:off x="4242816" y="607161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ResNet-50 accuracy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D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measurable composite scores</a:t>
            </a:r>
            <a:endParaRPr lang="en-US" sz="680" dirty="0"/>
          </a:p>
        </p:txBody>
      </p:sp>
      <p:sp>
        <p:nvSpPr>
          <p:cNvPr id="133" name="Shape 109"/>
          <p:cNvSpPr/>
          <p:nvPr/>
        </p:nvSpPr>
        <p:spPr>
          <a:xfrm>
            <a:off x="5907024" y="6126480"/>
            <a:ext cx="0" cy="310896"/>
          </a:xfrm>
          <a:prstGeom prst="line">
            <a:avLst/>
          </a:prstGeom>
          <a:noFill/>
          <a:ln w="6350">
            <a:solidFill>
              <a:srgbClr val="6677AA"/>
            </a:solidFill>
            <a:prstDash val="solid"/>
          </a:ln>
        </p:spPr>
      </p:sp>
      <p:pic>
        <p:nvPicPr>
          <p:cNvPr id="134" name="Image 16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80176" y="6126480"/>
            <a:ext cx="256032" cy="256032"/>
          </a:xfrm>
          <a:prstGeom prst="rect">
            <a:avLst/>
          </a:prstGeom>
        </p:spPr>
      </p:pic>
      <p:sp>
        <p:nvSpPr>
          <p:cNvPr id="135" name="Text 110"/>
          <p:cNvSpPr/>
          <p:nvPr/>
        </p:nvSpPr>
        <p:spPr>
          <a:xfrm>
            <a:off x="6272784" y="607161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SHAP improve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D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explainability</a:t>
            </a:r>
            <a:endParaRPr lang="en-US" sz="680" dirty="0"/>
          </a:p>
        </p:txBody>
      </p:sp>
      <p:sp>
        <p:nvSpPr>
          <p:cNvPr id="136" name="Shape 111"/>
          <p:cNvSpPr/>
          <p:nvPr/>
        </p:nvSpPr>
        <p:spPr>
          <a:xfrm>
            <a:off x="7936992" y="6126480"/>
            <a:ext cx="0" cy="310896"/>
          </a:xfrm>
          <a:prstGeom prst="line">
            <a:avLst/>
          </a:prstGeom>
          <a:noFill/>
          <a:ln w="6350">
            <a:solidFill>
              <a:srgbClr val="6677AA"/>
            </a:solidFill>
            <a:prstDash val="solid"/>
          </a:ln>
        </p:spPr>
      </p:sp>
      <p:pic>
        <p:nvPicPr>
          <p:cNvPr id="137" name="Image 17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10144" y="6126480"/>
            <a:ext cx="256032" cy="256032"/>
          </a:xfrm>
          <a:prstGeom prst="rect">
            <a:avLst/>
          </a:prstGeom>
        </p:spPr>
      </p:pic>
      <p:sp>
        <p:nvSpPr>
          <p:cNvPr id="138" name="Text 112"/>
          <p:cNvSpPr/>
          <p:nvPr/>
        </p:nvSpPr>
        <p:spPr>
          <a:xfrm>
            <a:off x="8302752" y="607161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tracks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D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trends for timely actions</a:t>
            </a:r>
            <a:endParaRPr lang="en-US" sz="680" dirty="0"/>
          </a:p>
        </p:txBody>
      </p:sp>
      <p:sp>
        <p:nvSpPr>
          <p:cNvPr id="139" name="Shape 113"/>
          <p:cNvSpPr/>
          <p:nvPr/>
        </p:nvSpPr>
        <p:spPr>
          <a:xfrm>
            <a:off x="9966960" y="6126480"/>
            <a:ext cx="0" cy="310896"/>
          </a:xfrm>
          <a:prstGeom prst="line">
            <a:avLst/>
          </a:prstGeom>
          <a:noFill/>
          <a:ln w="6350">
            <a:solidFill>
              <a:srgbClr val="6677AA"/>
            </a:solidFill>
            <a:prstDash val="solid"/>
          </a:ln>
        </p:spPr>
      </p:sp>
      <p:pic>
        <p:nvPicPr>
          <p:cNvPr id="140" name="Image 18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40112" y="6126480"/>
            <a:ext cx="256032" cy="256032"/>
          </a:xfrm>
          <a:prstGeom prst="rect">
            <a:avLst/>
          </a:prstGeom>
        </p:spPr>
      </p:pic>
      <p:sp>
        <p:nvSpPr>
          <p:cNvPr id="141" name="Text 114"/>
          <p:cNvSpPr/>
          <p:nvPr/>
        </p:nvSpPr>
        <p:spPr>
          <a:xfrm>
            <a:off x="10332720" y="607161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D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 FPS edge deployment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D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payback &lt; 1 day ✅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2026-06-09T17:38:12Z</dcterms:created>
  <dcterms:modified xsi:type="dcterms:W3CDTF">2026-06-09T17:38:12Z</dcterms:modified>
</cp:coreProperties>
</file>